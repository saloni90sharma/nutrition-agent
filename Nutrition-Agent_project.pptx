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metadata" ContentType="application/binary"/>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72" r:id="rId10"/>
    <p:sldId id="264" r:id="rId11"/>
    <p:sldId id="266" r:id="rId12"/>
    <p:sldId id="267" r:id="rId13"/>
    <p:sldId id="268" r:id="rId14"/>
    <p:sldId id="269" r:id="rId15"/>
    <p:sldId id="270" r:id="rId16"/>
    <p:sldId id="271"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2" roundtripDataSignature="AMtx7mgb3W1nguJpyLvdkVeio7GQyZY/LA=="/>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F063BE5B-8E01-4B91-9C5C-8479B17E1E5F}">
  <a:tblStyle styleId="{F063BE5B-8E01-4B91-9C5C-8479B17E1E5F}"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82" d="100"/>
          <a:sy n="82" d="100"/>
        </p:scale>
        <p:origin x="-691" y="-91"/>
      </p:cViewPr>
      <p:guideLst>
        <p:guide orient="horz" pos="2160"/>
        <p:guide pos="384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 name="Google Shape;111;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3" name="Google Shape;123;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9" name="Google Shape;12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3" name="Google Shape;19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a:t>IBM University Engagement Project Submission</a:t>
            </a:r>
            <a:r>
              <a:rPr lang="en-US" b="1"/>
              <a:t/>
            </a:r>
            <a:br>
              <a:rPr lang="en-US" b="1"/>
            </a:br>
            <a:endParaRPr/>
          </a:p>
        </p:txBody>
      </p:sp>
      <p:sp>
        <p:nvSpPr>
          <p:cNvPr id="79" name="Google Shape;79;p33"/>
          <p:cNvSpPr txBox="1">
            <a:spLocks noGrp="1"/>
          </p:cNvSpPr>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r>
              <a:rPr lang="en-US" b="1" i="1" dirty="0"/>
              <a:t>“Exploring the Power of </a:t>
            </a:r>
            <a:r>
              <a:rPr lang="en-US" b="1" i="1" dirty="0" err="1"/>
              <a:t>Agentic</a:t>
            </a:r>
            <a:r>
              <a:rPr lang="en-US" b="1" i="1" dirty="0"/>
              <a:t> </a:t>
            </a:r>
            <a:r>
              <a:rPr lang="en-US" b="1" i="1" dirty="0" smtClean="0"/>
              <a:t>AI with IBM Bob and IBM </a:t>
            </a:r>
            <a:r>
              <a:rPr lang="en-US" b="1" i="1" dirty="0" err="1" smtClean="0"/>
              <a:t>Watsonx</a:t>
            </a:r>
            <a:r>
              <a:rPr lang="en-US" b="1" i="1" dirty="0" smtClean="0"/>
              <a: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nvGraphicFramePr>
        <p:xfrm>
          <a:off x="1299257" y="2600315"/>
          <a:ext cx="9395000" cy="2222915"/>
        </p:xfrm>
        <a:graphic>
          <a:graphicData uri="http://schemas.openxmlformats.org/drawingml/2006/table">
            <a:tbl>
              <a:tblPr>
                <a:noFill/>
                <a:tableStyleId>{F063BE5B-8E01-4B91-9C5C-8479B17E1E5F}</a:tableStyleId>
              </a:tblPr>
              <a:tblGrid>
                <a:gridCol w="2064875"/>
                <a:gridCol w="2443375"/>
                <a:gridCol w="2443375"/>
                <a:gridCol w="2443375"/>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dirty="0"/>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Recent Passport Photo</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Mobile number</a:t>
                      </a: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[WhatsApp]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r>
              <a:tr h="1193900">
                <a:tc>
                  <a:txBody>
                    <a:bodyPr/>
                    <a:lstStyle/>
                    <a:p>
                      <a:pPr marL="0" marR="0" lvl="0" indent="0" algn="ctr" rtl="0">
                        <a:lnSpc>
                          <a:spcPct val="100000"/>
                        </a:lnSpc>
                        <a:spcBef>
                          <a:spcPts val="0"/>
                        </a:spcBef>
                        <a:spcAft>
                          <a:spcPts val="0"/>
                        </a:spcAft>
                        <a:buClr>
                          <a:srgbClr val="000000"/>
                        </a:buClr>
                        <a:buSzPts val="1400"/>
                        <a:buFont typeface="Arial"/>
                        <a:buNone/>
                      </a:pPr>
                      <a:endParaRPr lang="en-IN" sz="1400" u="none" strike="noStrike" cap="none" dirty="0" smtClean="0"/>
                    </a:p>
                    <a:p>
                      <a:pPr marL="0" marR="0" lvl="0" indent="0" algn="ctr" rtl="0">
                        <a:lnSpc>
                          <a:spcPct val="100000"/>
                        </a:lnSpc>
                        <a:spcBef>
                          <a:spcPts val="0"/>
                        </a:spcBef>
                        <a:spcAft>
                          <a:spcPts val="0"/>
                        </a:spcAft>
                        <a:buClr>
                          <a:srgbClr val="000000"/>
                        </a:buClr>
                        <a:buSzPts val="1400"/>
                        <a:buFont typeface="Arial"/>
                        <a:buNone/>
                      </a:pPr>
                      <a:endParaRPr lang="en-IN" sz="1400" u="none" strike="noStrike" cap="none" dirty="0" smtClean="0"/>
                    </a:p>
                    <a:p>
                      <a:pPr marL="0" marR="0" lvl="0" indent="0" algn="ctr" rtl="0">
                        <a:lnSpc>
                          <a:spcPct val="100000"/>
                        </a:lnSpc>
                        <a:spcBef>
                          <a:spcPts val="0"/>
                        </a:spcBef>
                        <a:spcAft>
                          <a:spcPts val="0"/>
                        </a:spcAft>
                        <a:buClr>
                          <a:srgbClr val="000000"/>
                        </a:buClr>
                        <a:buSzPts val="1400"/>
                        <a:buFont typeface="Arial"/>
                        <a:buNone/>
                      </a:pPr>
                      <a:r>
                        <a:rPr lang="en-IN" sz="2000" u="none" strike="noStrike" cap="none" dirty="0" err="1" smtClean="0"/>
                        <a:t>Saloni</a:t>
                      </a:r>
                      <a:r>
                        <a:rPr lang="en-IN" sz="2000" u="none" strike="noStrike" cap="none" dirty="0" smtClean="0"/>
                        <a:t> </a:t>
                      </a:r>
                      <a:r>
                        <a:rPr lang="en-IN" sz="2000" u="none" strike="noStrike" cap="none" dirty="0" smtClean="0"/>
                        <a:t>Sharma</a:t>
                      </a:r>
                      <a:endParaRPr sz="20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lnSpc>
                          <a:spcPct val="100000"/>
                        </a:lnSpc>
                        <a:spcBef>
                          <a:spcPts val="0"/>
                        </a:spcBef>
                        <a:spcAft>
                          <a:spcPts val="0"/>
                        </a:spcAft>
                        <a:buClr>
                          <a:srgbClr val="000000"/>
                        </a:buClr>
                        <a:buSzPts val="1400"/>
                        <a:buFont typeface="Arial"/>
                        <a:buNone/>
                      </a:pPr>
                      <a:endParaRPr lang="en-IN" sz="1400" u="none" strike="noStrike" cap="none" dirty="0" smtClean="0"/>
                    </a:p>
                    <a:p>
                      <a:pPr marL="0" marR="0" lvl="0" indent="0" algn="ctr" rtl="0">
                        <a:lnSpc>
                          <a:spcPct val="100000"/>
                        </a:lnSpc>
                        <a:spcBef>
                          <a:spcPts val="0"/>
                        </a:spcBef>
                        <a:spcAft>
                          <a:spcPts val="0"/>
                        </a:spcAft>
                        <a:buClr>
                          <a:srgbClr val="000000"/>
                        </a:buClr>
                        <a:buSzPts val="1400"/>
                        <a:buFont typeface="Arial"/>
                        <a:buNone/>
                      </a:pPr>
                      <a:endParaRPr lang="en-IN" sz="1400" u="none" strike="noStrike" cap="none" dirty="0" smtClean="0"/>
                    </a:p>
                    <a:p>
                      <a:pPr marL="0" marR="0" lvl="0" indent="0" algn="ctr" rtl="0">
                        <a:lnSpc>
                          <a:spcPct val="100000"/>
                        </a:lnSpc>
                        <a:spcBef>
                          <a:spcPts val="0"/>
                        </a:spcBef>
                        <a:spcAft>
                          <a:spcPts val="0"/>
                        </a:spcAft>
                        <a:buClr>
                          <a:srgbClr val="000000"/>
                        </a:buClr>
                        <a:buSzPts val="1400"/>
                        <a:buFont typeface="Arial"/>
                        <a:buNone/>
                      </a:pPr>
                      <a:r>
                        <a:rPr lang="en-IN" sz="1400" u="none" strike="noStrike" cap="none" dirty="0" smtClean="0"/>
                        <a:t>sharma43saloni@gmail.com</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lnSpc>
                          <a:spcPct val="100000"/>
                        </a:lnSpc>
                        <a:spcBef>
                          <a:spcPts val="0"/>
                        </a:spcBef>
                        <a:spcAft>
                          <a:spcPts val="0"/>
                        </a:spcAft>
                        <a:buClr>
                          <a:srgbClr val="000000"/>
                        </a:buClr>
                        <a:buSzPts val="1400"/>
                        <a:buFont typeface="Arial"/>
                        <a:buNone/>
                      </a:pPr>
                      <a:endParaRPr lang="en-IN" sz="1400" u="none" strike="noStrike" cap="none" dirty="0" smtClean="0"/>
                    </a:p>
                    <a:p>
                      <a:pPr marL="0" marR="0" lvl="0" indent="0" algn="ctr" rtl="0">
                        <a:lnSpc>
                          <a:spcPct val="100000"/>
                        </a:lnSpc>
                        <a:spcBef>
                          <a:spcPts val="0"/>
                        </a:spcBef>
                        <a:spcAft>
                          <a:spcPts val="0"/>
                        </a:spcAft>
                        <a:buClr>
                          <a:srgbClr val="000000"/>
                        </a:buClr>
                        <a:buSzPts val="1400"/>
                        <a:buFont typeface="Arial"/>
                        <a:buNone/>
                      </a:pPr>
                      <a:endParaRPr lang="en-IN" sz="1400" u="none" strike="noStrike" cap="none" dirty="0" smtClean="0"/>
                    </a:p>
                    <a:p>
                      <a:pPr marL="0" marR="0" lvl="0" indent="0" algn="ctr" rtl="0">
                        <a:lnSpc>
                          <a:spcPct val="100000"/>
                        </a:lnSpc>
                        <a:spcBef>
                          <a:spcPts val="0"/>
                        </a:spcBef>
                        <a:spcAft>
                          <a:spcPts val="0"/>
                        </a:spcAft>
                        <a:buClr>
                          <a:srgbClr val="000000"/>
                        </a:buClr>
                        <a:buSzPts val="1400"/>
                        <a:buFont typeface="Arial"/>
                        <a:buNone/>
                      </a:pPr>
                      <a:r>
                        <a:rPr lang="en-IN" sz="2000" u="none" strike="noStrike" cap="none" dirty="0" smtClean="0"/>
                        <a:t>6396184166</a:t>
                      </a:r>
                      <a:endParaRPr lang="en-IN" sz="2000" u="none" strike="noStrike" cap="none" dirty="0" smtClean="0"/>
                    </a:p>
                    <a:p>
                      <a:pPr marL="0" marR="0" lvl="0" indent="0" algn="l" rtl="0">
                        <a:lnSpc>
                          <a:spcPct val="100000"/>
                        </a:lnSpc>
                        <a:spcBef>
                          <a:spcPts val="0"/>
                        </a:spcBef>
                        <a:spcAft>
                          <a:spcPts val="0"/>
                        </a:spcAft>
                        <a:buClr>
                          <a:srgbClr val="000000"/>
                        </a:buClr>
                        <a:buSzPts val="1400"/>
                        <a:buFont typeface="Arial"/>
                        <a:buNone/>
                      </a:pPr>
                      <a:endParaRPr lang="en-IN" sz="1400" u="none" strike="noStrike" cap="none" dirty="0" smtClean="0"/>
                    </a:p>
                    <a:p>
                      <a:pPr marL="0" marR="0" lvl="0" indent="0" algn="ctr"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r>
            </a:tbl>
          </a:graphicData>
        </a:graphic>
      </p:graphicFrame>
      <p:sp>
        <p:nvSpPr>
          <p:cNvPr id="88" name="Google Shape;88;p2"/>
          <p:cNvSpPr txBox="1"/>
          <p:nvPr/>
        </p:nvSpPr>
        <p:spPr>
          <a:xfrm>
            <a:off x="1206164" y="1460724"/>
            <a:ext cx="102802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Domain of  Project – </a:t>
            </a:r>
            <a:r>
              <a:rPr lang="en-US" sz="2400" b="1" i="0" u="none" strike="noStrike" cap="none" dirty="0">
                <a:solidFill>
                  <a:srgbClr val="000000"/>
                </a:solidFill>
                <a:highlight>
                  <a:srgbClr val="FFFF00"/>
                </a:highlight>
                <a:latin typeface="Arial"/>
                <a:ea typeface="Arial"/>
                <a:cs typeface="Arial"/>
                <a:sym typeface="Arial"/>
              </a:rPr>
              <a:t>Healthcare &amp; Nutrition</a:t>
            </a:r>
            <a:endParaRPr sz="2400" b="1" i="0" u="none" strike="noStrike" cap="none">
              <a:solidFill>
                <a:srgbClr val="000000"/>
              </a:solidFill>
              <a:highlight>
                <a:srgbClr val="FFFF00"/>
              </a:highlight>
              <a:latin typeface="Arial"/>
              <a:ea typeface="Arial"/>
              <a:cs typeface="Arial"/>
              <a:sym typeface="Arial"/>
            </a:endParaRPr>
          </a:p>
        </p:txBody>
      </p:sp>
      <p:sp>
        <p:nvSpPr>
          <p:cNvPr id="89" name="Google Shape;89;p2"/>
          <p:cNvSpPr txBox="1"/>
          <p:nvPr/>
        </p:nvSpPr>
        <p:spPr>
          <a:xfrm>
            <a:off x="1206162" y="551965"/>
            <a:ext cx="9581177"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Project Tile – </a:t>
            </a:r>
            <a:r>
              <a:rPr lang="en-US" sz="2400" b="1" i="0" u="none" strike="noStrike" cap="none" dirty="0">
                <a:solidFill>
                  <a:srgbClr val="000000"/>
                </a:solidFill>
                <a:highlight>
                  <a:srgbClr val="FFFF00"/>
                </a:highlight>
                <a:latin typeface="Arial"/>
                <a:ea typeface="Arial"/>
                <a:cs typeface="Arial"/>
                <a:sym typeface="Arial"/>
              </a:rPr>
              <a:t>[</a:t>
            </a:r>
            <a:r>
              <a:rPr lang="en-US" sz="2400" b="1" i="0" u="none" strike="noStrike" cap="none" dirty="0" err="1">
                <a:solidFill>
                  <a:srgbClr val="002060"/>
                </a:solidFill>
                <a:highlight>
                  <a:srgbClr val="FFFF00"/>
                </a:highlight>
                <a:latin typeface="+mj-lt"/>
                <a:ea typeface="Times New Roman"/>
                <a:cs typeface="Times New Roman"/>
                <a:sym typeface="Times New Roman"/>
              </a:rPr>
              <a:t>NutriBot</a:t>
            </a:r>
            <a:r>
              <a:rPr lang="en-US" sz="2400" b="1" i="0" u="none" strike="noStrike" cap="none" dirty="0">
                <a:solidFill>
                  <a:srgbClr val="002060"/>
                </a:solidFill>
                <a:highlight>
                  <a:srgbClr val="FFFF00"/>
                </a:highlight>
                <a:latin typeface="+mj-lt"/>
                <a:ea typeface="Times New Roman"/>
                <a:cs typeface="Times New Roman"/>
                <a:sym typeface="Times New Roman"/>
              </a:rPr>
              <a:t> – AI-Powered Nutrition Agent</a:t>
            </a:r>
            <a:r>
              <a:rPr lang="en-US" sz="2400" b="1" i="0" u="none" strike="noStrike" cap="none" dirty="0">
                <a:solidFill>
                  <a:srgbClr val="000000"/>
                </a:solidFill>
                <a:highlight>
                  <a:srgbClr val="FFFF00"/>
                </a:highlight>
                <a:latin typeface="Arial"/>
                <a:ea typeface="Arial"/>
                <a:cs typeface="Arial"/>
                <a:sym typeface="Arial"/>
              </a:rPr>
              <a:t>]</a:t>
            </a:r>
            <a:endParaRPr sz="2400" b="1" i="0" u="none" strike="noStrike" cap="none">
              <a:solidFill>
                <a:srgbClr val="000000"/>
              </a:solidFill>
              <a:highlight>
                <a:srgbClr val="FFFF00"/>
              </a:highlight>
              <a:latin typeface="Arial"/>
              <a:ea typeface="Arial"/>
              <a:cs typeface="Arial"/>
              <a:sym typeface="Arial"/>
            </a:endParaRPr>
          </a:p>
        </p:txBody>
      </p:sp>
      <p:pic>
        <p:nvPicPr>
          <p:cNvPr id="2050" name="Picture 2"/>
          <p:cNvPicPr>
            <a:picLocks noChangeAspect="1" noChangeArrowheads="1"/>
          </p:cNvPicPr>
          <p:nvPr/>
        </p:nvPicPr>
        <p:blipFill>
          <a:blip r:embed="rId3"/>
          <a:srcRect b="10526"/>
          <a:stretch>
            <a:fillRect/>
          </a:stretch>
        </p:blipFill>
        <p:spPr bwMode="auto">
          <a:xfrm>
            <a:off x="4095736" y="3643314"/>
            <a:ext cx="785818" cy="1143008"/>
          </a:xfrm>
          <a:prstGeom prst="rect">
            <a:avLst/>
          </a:prstGeom>
          <a:noFill/>
          <a:ln w="9525">
            <a:noFill/>
            <a:miter lim="800000"/>
            <a:headEnd/>
            <a:tailEnd/>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34"/>
          <p:cNvSpPr txBox="1"/>
          <p:nvPr/>
        </p:nvSpPr>
        <p:spPr>
          <a:xfrm>
            <a:off x="576072" y="1234440"/>
            <a:ext cx="10607040" cy="50474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Problem Statement : Nutrition Agent</a:t>
            </a:r>
            <a:r>
              <a:rPr lang="en-US" sz="1400" b="0" i="0" u="none" strike="noStrike" cap="none" dirty="0">
                <a:solidFill>
                  <a:srgbClr val="000000"/>
                </a:solidFill>
                <a:latin typeface="Arial"/>
                <a:ea typeface="Arial"/>
                <a:cs typeface="Arial"/>
                <a:sym typeface="Arial"/>
              </a:rPr>
              <a:t> </a:t>
            </a:r>
            <a:endParaRPr/>
          </a:p>
          <a:p>
            <a:pPr marL="0" marR="0" lvl="0" indent="0" algn="l" rtl="0">
              <a:lnSpc>
                <a:spcPct val="100000"/>
              </a:lnSpc>
              <a:spcBef>
                <a:spcPts val="0"/>
              </a:spcBef>
              <a:spcAft>
                <a:spcPts val="0"/>
              </a:spcAft>
              <a:buNone/>
            </a:pPr>
            <a:endParaRPr sz="14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The Challenge</a:t>
            </a:r>
            <a:r>
              <a:rPr lang="en-US" sz="1400" b="0" i="0" u="none" strike="noStrike" cap="none" dirty="0">
                <a:solidFill>
                  <a:srgbClr val="000000"/>
                </a:solidFill>
                <a:latin typeface="Arial"/>
                <a:ea typeface="Arial"/>
                <a:cs typeface="Arial"/>
                <a:sym typeface="Arial"/>
              </a:rPr>
              <a:t> </a:t>
            </a:r>
            <a:endParaRPr/>
          </a:p>
          <a:p>
            <a:pPr lvl="0"/>
            <a:r>
              <a:rPr lang="en-US" dirty="0" smtClean="0"/>
              <a:t>Good nutrition is the foundation of health, but individuals often struggle with </a:t>
            </a:r>
            <a:r>
              <a:rPr lang="en-US" b="1" dirty="0" smtClean="0"/>
              <a:t>diet planning, portion control, and tracking nutritional intake</a:t>
            </a:r>
            <a:r>
              <a:rPr lang="en-US" dirty="0" smtClean="0"/>
              <a:t>. Information about healthy diets, disease-specific nutrition, and food composition is scattered across unreliable sources. Without </a:t>
            </a:r>
            <a:r>
              <a:rPr lang="en-US" b="1" dirty="0" smtClean="0"/>
              <a:t>personalized, real-time guidance</a:t>
            </a:r>
            <a:r>
              <a:rPr lang="en-US" dirty="0" smtClean="0"/>
              <a:t>, many fail to maintain balanced diets or make informed food choices. </a:t>
            </a:r>
            <a:endParaRPr lang="en-US" dirty="0" smtClean="0"/>
          </a:p>
          <a:p>
            <a:pPr lvl="0"/>
            <a:endParaRPr lang="en-US" sz="1400" b="1" i="0" u="none" strike="noStrike" cap="none" dirty="0" smtClean="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smtClean="0">
                <a:solidFill>
                  <a:srgbClr val="000000"/>
                </a:solidFill>
                <a:latin typeface="Arial"/>
                <a:ea typeface="Arial"/>
                <a:cs typeface="Arial"/>
                <a:sym typeface="Arial"/>
              </a:rPr>
              <a:t>The </a:t>
            </a:r>
            <a:r>
              <a:rPr lang="en-US" sz="1400" b="1" i="0" u="none" strike="noStrike" cap="none" dirty="0">
                <a:solidFill>
                  <a:srgbClr val="000000"/>
                </a:solidFill>
                <a:latin typeface="Arial"/>
                <a:ea typeface="Arial"/>
                <a:cs typeface="Arial"/>
                <a:sym typeface="Arial"/>
              </a:rPr>
              <a:t>Objective</a:t>
            </a:r>
            <a:r>
              <a:rPr lang="en-US" sz="1400" b="0" i="0" u="none" strike="noStrike" cap="none" dirty="0">
                <a:solidFill>
                  <a:srgbClr val="000000"/>
                </a:solidFill>
                <a:latin typeface="Arial"/>
                <a:ea typeface="Arial"/>
                <a:cs typeface="Arial"/>
                <a:sym typeface="Arial"/>
              </a:rPr>
              <a:t> </a:t>
            </a:r>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Build an </a:t>
            </a:r>
            <a:r>
              <a:rPr lang="en-US" sz="1400" b="1" i="0" u="none" strike="noStrike" cap="none" dirty="0">
                <a:solidFill>
                  <a:srgbClr val="000000"/>
                </a:solidFill>
                <a:latin typeface="Arial"/>
                <a:ea typeface="Arial"/>
                <a:cs typeface="Arial"/>
                <a:sym typeface="Arial"/>
              </a:rPr>
              <a:t>AI-powered Nutrition Agent</a:t>
            </a:r>
            <a:r>
              <a:rPr lang="en-US" sz="1400" b="0" i="0" u="none" strike="noStrike" cap="none" dirty="0">
                <a:solidFill>
                  <a:srgbClr val="000000"/>
                </a:solidFill>
                <a:latin typeface="Arial"/>
                <a:ea typeface="Arial"/>
                <a:cs typeface="Arial"/>
                <a:sym typeface="Arial"/>
              </a:rPr>
              <a:t> that delivers </a:t>
            </a:r>
            <a:r>
              <a:rPr lang="en-US" sz="1400" b="1" i="0" u="none" strike="noStrike" cap="none" dirty="0">
                <a:solidFill>
                  <a:srgbClr val="000000"/>
                </a:solidFill>
                <a:latin typeface="Arial"/>
                <a:ea typeface="Arial"/>
                <a:cs typeface="Arial"/>
                <a:sym typeface="Arial"/>
              </a:rPr>
              <a:t>personalized dietary insights and guidance</a:t>
            </a:r>
            <a:r>
              <a:rPr lang="en-US" sz="1400" b="0" i="0" u="none" strike="noStrike" cap="none" dirty="0">
                <a:solidFill>
                  <a:srgbClr val="000000"/>
                </a:solidFill>
                <a:latin typeface="Arial"/>
                <a:ea typeface="Arial"/>
                <a:cs typeface="Arial"/>
                <a:sym typeface="Arial"/>
              </a:rPr>
              <a:t> for individuals, families, and health professionals. The solution should: </a:t>
            </a:r>
            <a:endParaRPr/>
          </a:p>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dirty="0">
                <a:solidFill>
                  <a:srgbClr val="000000"/>
                </a:solidFill>
                <a:latin typeface="Arial"/>
                <a:ea typeface="Arial"/>
                <a:cs typeface="Arial"/>
                <a:sym typeface="Arial"/>
              </a:rPr>
              <a:t>Personalized Diet Plans</a:t>
            </a:r>
            <a:r>
              <a:rPr lang="en-US" sz="1400" b="0" i="0" u="none" strike="noStrike" cap="none" dirty="0">
                <a:solidFill>
                  <a:srgbClr val="000000"/>
                </a:solidFill>
                <a:latin typeface="Arial"/>
                <a:ea typeface="Arial"/>
                <a:cs typeface="Arial"/>
                <a:sym typeface="Arial"/>
              </a:rPr>
              <a:t> – Recommend meals based on age, health conditions, allergies, cultural preferences, and fitness goals. </a:t>
            </a:r>
            <a:endParaRPr/>
          </a:p>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dirty="0">
                <a:solidFill>
                  <a:srgbClr val="000000"/>
                </a:solidFill>
                <a:latin typeface="Arial"/>
                <a:ea typeface="Arial"/>
                <a:cs typeface="Arial"/>
                <a:sym typeface="Arial"/>
              </a:rPr>
              <a:t>Calorie &amp; Nutrition Analysis</a:t>
            </a:r>
            <a:r>
              <a:rPr lang="en-US" sz="1400" b="0" i="0" u="none" strike="noStrike" cap="none" dirty="0">
                <a:solidFill>
                  <a:srgbClr val="000000"/>
                </a:solidFill>
                <a:latin typeface="Arial"/>
                <a:ea typeface="Arial"/>
                <a:cs typeface="Arial"/>
                <a:sym typeface="Arial"/>
              </a:rPr>
              <a:t> – Instantly break down calories, macros, and micronutrients for any meal or Indian food item. </a:t>
            </a:r>
            <a:endParaRPr/>
          </a:p>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dirty="0">
                <a:solidFill>
                  <a:srgbClr val="000000"/>
                </a:solidFill>
                <a:latin typeface="Arial"/>
                <a:ea typeface="Arial"/>
                <a:cs typeface="Arial"/>
                <a:sym typeface="Arial"/>
              </a:rPr>
              <a:t>BMI &amp; Health Tracking</a:t>
            </a:r>
            <a:r>
              <a:rPr lang="en-US" sz="1400" b="0" i="0" u="none" strike="noStrike" cap="none" dirty="0">
                <a:solidFill>
                  <a:srgbClr val="000000"/>
                </a:solidFill>
                <a:latin typeface="Arial"/>
                <a:ea typeface="Arial"/>
                <a:cs typeface="Arial"/>
                <a:sym typeface="Arial"/>
              </a:rPr>
              <a:t> – Calculate BMI using Asian (Indian) thresholds and deliver instant, personalized nutrition advice. </a:t>
            </a:r>
            <a:endParaRPr/>
          </a:p>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dirty="0">
                <a:solidFill>
                  <a:srgbClr val="000000"/>
                </a:solidFill>
                <a:latin typeface="Arial"/>
                <a:ea typeface="Arial"/>
                <a:cs typeface="Arial"/>
                <a:sym typeface="Arial"/>
              </a:rPr>
              <a:t>Preventive Health Focus</a:t>
            </a:r>
            <a:r>
              <a:rPr lang="en-US" sz="1400" b="0" i="0" u="none" strike="noStrike" cap="none" dirty="0">
                <a:solidFill>
                  <a:srgbClr val="000000"/>
                </a:solidFill>
                <a:latin typeface="Arial"/>
                <a:ea typeface="Arial"/>
                <a:cs typeface="Arial"/>
                <a:sym typeface="Arial"/>
              </a:rPr>
              <a:t> – Suggest diets for chronic disease management (e.g., diabetes-friendly or heart-healthy plans). </a:t>
            </a:r>
            <a:endParaRPr/>
          </a:p>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dirty="0">
                <a:solidFill>
                  <a:srgbClr val="000000"/>
                </a:solidFill>
                <a:latin typeface="Arial"/>
                <a:ea typeface="Arial"/>
                <a:cs typeface="Arial"/>
                <a:sym typeface="Arial"/>
              </a:rPr>
              <a:t>Core Feature Modules</a:t>
            </a:r>
            <a:r>
              <a:rPr lang="en-US" sz="1400" b="0" i="0" u="none" strike="noStrike" cap="none" dirty="0">
                <a:solidFill>
                  <a:srgbClr val="000000"/>
                </a:solidFill>
                <a:latin typeface="Arial"/>
                <a:ea typeface="Arial"/>
                <a:cs typeface="Arial"/>
                <a:sym typeface="Arial"/>
              </a:rPr>
              <a:t> – </a:t>
            </a:r>
            <a:endParaRPr/>
          </a:p>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dirty="0">
                <a:solidFill>
                  <a:srgbClr val="000000"/>
                </a:solidFill>
                <a:latin typeface="Arial"/>
                <a:ea typeface="Arial"/>
                <a:cs typeface="Arial"/>
                <a:sym typeface="Arial"/>
              </a:rPr>
              <a:t>Chat Assistant</a:t>
            </a:r>
            <a:r>
              <a:rPr lang="en-US" sz="1400" b="0" i="0" u="none" strike="noStrike" cap="none" dirty="0">
                <a:solidFill>
                  <a:srgbClr val="000000"/>
                </a:solidFill>
                <a:latin typeface="Arial"/>
                <a:ea typeface="Arial"/>
                <a:cs typeface="Arial"/>
                <a:sym typeface="Arial"/>
              </a:rPr>
              <a:t> (conversational nutrition guidance) </a:t>
            </a:r>
            <a:endParaRPr/>
          </a:p>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dirty="0">
                <a:solidFill>
                  <a:srgbClr val="000000"/>
                </a:solidFill>
                <a:latin typeface="Arial"/>
                <a:ea typeface="Arial"/>
                <a:cs typeface="Arial"/>
                <a:sym typeface="Arial"/>
              </a:rPr>
              <a:t>7-Day Meal Planner</a:t>
            </a:r>
            <a:r>
              <a:rPr lang="en-US" sz="1400" b="0" i="0" u="none" strike="noStrike" cap="none" dirty="0">
                <a:solidFill>
                  <a:srgbClr val="000000"/>
                </a:solidFill>
                <a:latin typeface="Arial"/>
                <a:ea typeface="Arial"/>
                <a:cs typeface="Arial"/>
                <a:sym typeface="Arial"/>
              </a:rPr>
              <a:t> (personalized meal plans) </a:t>
            </a:r>
            <a:endParaRPr/>
          </a:p>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dirty="0">
                <a:solidFill>
                  <a:srgbClr val="000000"/>
                </a:solidFill>
                <a:latin typeface="Arial"/>
                <a:ea typeface="Arial"/>
                <a:cs typeface="Arial"/>
                <a:sym typeface="Arial"/>
              </a:rPr>
              <a:t>BMI Calculator</a:t>
            </a:r>
            <a:r>
              <a:rPr lang="en-US" sz="1400" b="0" i="0" u="none" strike="noStrike" cap="none" dirty="0">
                <a:solidFill>
                  <a:srgbClr val="000000"/>
                </a:solidFill>
                <a:latin typeface="Arial"/>
                <a:ea typeface="Arial"/>
                <a:cs typeface="Arial"/>
                <a:sym typeface="Arial"/>
              </a:rPr>
              <a:t> (BMI &amp; personalized health advice) </a:t>
            </a:r>
            <a:endParaRPr/>
          </a:p>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dirty="0">
                <a:solidFill>
                  <a:srgbClr val="000000"/>
                </a:solidFill>
                <a:latin typeface="Arial"/>
                <a:ea typeface="Arial"/>
                <a:cs typeface="Arial"/>
                <a:sym typeface="Arial"/>
              </a:rPr>
              <a:t>Family Nutrition Planner</a:t>
            </a:r>
            <a:r>
              <a:rPr lang="en-US" sz="1400" b="0" i="0" u="none" strike="noStrike" cap="none" dirty="0">
                <a:solidFill>
                  <a:srgbClr val="000000"/>
                </a:solidFill>
                <a:latin typeface="Arial"/>
                <a:ea typeface="Arial"/>
                <a:cs typeface="Arial"/>
                <a:sym typeface="Arial"/>
              </a:rPr>
              <a:t> (unified plans for the whole family) </a:t>
            </a:r>
            <a:endParaRPr/>
          </a:p>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dirty="0">
                <a:solidFill>
                  <a:srgbClr val="000000"/>
                </a:solidFill>
                <a:latin typeface="Arial"/>
                <a:ea typeface="Arial"/>
                <a:cs typeface="Arial"/>
                <a:sym typeface="Arial"/>
              </a:rPr>
              <a:t>Responsive Web Dashboard</a:t>
            </a:r>
            <a:r>
              <a:rPr lang="en-US" sz="1400" b="0" i="0" u="none" strike="noStrike" cap="none" dirty="0">
                <a:solidFill>
                  <a:srgbClr val="000000"/>
                </a:solidFill>
                <a:latin typeface="Arial"/>
                <a:ea typeface="Arial"/>
                <a:cs typeface="Arial"/>
                <a:sym typeface="Arial"/>
              </a:rPr>
              <a:t> – Mobile-friendly Flask web app with dark mode, animated BMI gauge, and macro-nutrient bars. </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6" name="Google Shape;96;p34"/>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Problem Statement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5"/>
          <p:cNvSpPr txBox="1"/>
          <p:nvPr/>
        </p:nvSpPr>
        <p:spPr>
          <a:xfrm>
            <a:off x="452398" y="857232"/>
            <a:ext cx="10607040" cy="541682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800" b="1" i="0" u="none" strike="noStrike" cap="none" dirty="0">
                <a:solidFill>
                  <a:srgbClr val="000000"/>
                </a:solidFill>
                <a:latin typeface="Arial"/>
                <a:ea typeface="Arial"/>
                <a:cs typeface="Arial"/>
                <a:sym typeface="Arial"/>
              </a:rPr>
              <a:t>Proposed Solution: AI-Powered Nutrition </a:t>
            </a:r>
            <a:r>
              <a:rPr lang="en-US" sz="1800" b="1" i="0" u="none" strike="noStrike" cap="none" dirty="0" smtClean="0">
                <a:solidFill>
                  <a:srgbClr val="000000"/>
                </a:solidFill>
                <a:latin typeface="Arial"/>
                <a:ea typeface="Arial"/>
                <a:cs typeface="Arial"/>
                <a:sym typeface="Arial"/>
              </a:rPr>
              <a:t>Agent</a:t>
            </a:r>
          </a:p>
          <a:p>
            <a:pPr marL="0" marR="0" lvl="0" indent="0" algn="l" rtl="0">
              <a:lnSpc>
                <a:spcPct val="100000"/>
              </a:lnSpc>
              <a:spcBef>
                <a:spcPts val="0"/>
              </a:spcBef>
              <a:spcAft>
                <a:spcPts val="0"/>
              </a:spcAft>
              <a:buNone/>
            </a:pPr>
            <a:endParaRPr/>
          </a:p>
          <a:p>
            <a:r>
              <a:rPr lang="en-US" sz="1600" dirty="0" err="1" smtClean="0"/>
              <a:t>NutriBot</a:t>
            </a:r>
            <a:r>
              <a:rPr lang="en-US" sz="1600" dirty="0" smtClean="0"/>
              <a:t> is a Flask-based intelligent nutrition assistant that leverages the capabilities of IBM watsonx.ai Foundation Models to provide personalized dietary recommendations in real time. Instead of following predefined rules, the application understands user inputs using Generative AI and responds with customized nutritional advice</a:t>
            </a:r>
            <a:r>
              <a:rPr lang="en-US" sz="1600" dirty="0" smtClean="0"/>
              <a:t>.</a:t>
            </a:r>
          </a:p>
          <a:p>
            <a:r>
              <a:rPr lang="en-US" sz="1600" dirty="0" smtClean="0"/>
              <a:t>The </a:t>
            </a:r>
            <a:r>
              <a:rPr lang="en-US" sz="1600" dirty="0" smtClean="0"/>
              <a:t>system collects information such as age, gender, dietary preference, allergies, existing health conditions, physical activity level, and fitness goals before generating recommendations tailored to each individual. This enables users to receive practical guidance that aligns with their personal health objectives</a:t>
            </a:r>
            <a:r>
              <a:rPr lang="en-US" sz="1600" dirty="0" smtClean="0"/>
              <a:t>.</a:t>
            </a:r>
          </a:p>
          <a:p>
            <a:endParaRPr lang="en-US" sz="1600" dirty="0" smtClean="0"/>
          </a:p>
          <a:p>
            <a:r>
              <a:rPr lang="en-US" sz="1600" dirty="0" smtClean="0"/>
              <a:t>The application is organized into multiple integrated modules</a:t>
            </a:r>
            <a:r>
              <a:rPr lang="en-US" sz="1600" dirty="0" smtClean="0"/>
              <a:t>:</a:t>
            </a:r>
          </a:p>
          <a:p>
            <a:endParaRPr lang="en-US" sz="1600" dirty="0" smtClean="0"/>
          </a:p>
          <a:p>
            <a:pPr>
              <a:buFont typeface="Arial" pitchFamily="34" charset="0"/>
              <a:buChar char="•"/>
            </a:pPr>
            <a:r>
              <a:rPr lang="en-US" sz="1600" b="1" dirty="0" smtClean="0"/>
              <a:t>AI Chat Assistant</a:t>
            </a:r>
            <a:r>
              <a:rPr lang="en-US" sz="1600" dirty="0" smtClean="0"/>
              <a:t> for answering nutrition-related questions. </a:t>
            </a:r>
          </a:p>
          <a:p>
            <a:pPr>
              <a:buFont typeface="Arial" pitchFamily="34" charset="0"/>
              <a:buChar char="•"/>
            </a:pPr>
            <a:r>
              <a:rPr lang="en-US" sz="1600" b="1" dirty="0" smtClean="0"/>
              <a:t>Meal Planner</a:t>
            </a:r>
            <a:r>
              <a:rPr lang="en-US" sz="1600" dirty="0" smtClean="0"/>
              <a:t> for generating personalized daily and weekly meal plans. </a:t>
            </a:r>
          </a:p>
          <a:p>
            <a:pPr>
              <a:buFont typeface="Arial" pitchFamily="34" charset="0"/>
              <a:buChar char="•"/>
            </a:pPr>
            <a:r>
              <a:rPr lang="en-US" sz="1600" b="1" dirty="0" smtClean="0"/>
              <a:t>BMI Calculator</a:t>
            </a:r>
            <a:r>
              <a:rPr lang="en-US" sz="1600" dirty="0" smtClean="0"/>
              <a:t> with Indian BMI classification and health suggestions. </a:t>
            </a:r>
          </a:p>
          <a:p>
            <a:pPr>
              <a:buFont typeface="Arial" pitchFamily="34" charset="0"/>
              <a:buChar char="•"/>
            </a:pPr>
            <a:r>
              <a:rPr lang="en-US" sz="1600" b="1" dirty="0" smtClean="0"/>
              <a:t>Nutrition Analyzer</a:t>
            </a:r>
            <a:r>
              <a:rPr lang="en-US" sz="1600" dirty="0" smtClean="0"/>
              <a:t> for calorie, protein, carbohydrate, fat, vitamin, and mineral estimation. </a:t>
            </a:r>
          </a:p>
          <a:p>
            <a:pPr>
              <a:buFont typeface="Arial" pitchFamily="34" charset="0"/>
              <a:buChar char="•"/>
            </a:pPr>
            <a:r>
              <a:rPr lang="en-US" sz="1600" b="1" dirty="0" smtClean="0"/>
              <a:t>Family Nutrition Planner</a:t>
            </a:r>
            <a:r>
              <a:rPr lang="en-US" sz="1600" dirty="0" smtClean="0"/>
              <a:t> for creating balanced meal plans for multiple family members. </a:t>
            </a:r>
            <a:endParaRPr lang="en-US" sz="1600" dirty="0" smtClean="0"/>
          </a:p>
          <a:p>
            <a:endParaRPr lang="en-US" sz="1600" dirty="0" smtClean="0"/>
          </a:p>
          <a:p>
            <a:r>
              <a:rPr lang="en-US" sz="1600" dirty="0" smtClean="0"/>
              <a:t>A responsive dashboard developed using Bootstrap provides an intuitive user experience with dark mode support, animated health indicators, and visually organized AI responses.</a:t>
            </a: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2" name="Google Shape;102;p35"/>
          <p:cNvSpPr txBox="1"/>
          <p:nvPr/>
        </p:nvSpPr>
        <p:spPr>
          <a:xfrm>
            <a:off x="523836" y="500042"/>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Proposed Solution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6"/>
          <p:cNvSpPr txBox="1"/>
          <p:nvPr/>
        </p:nvSpPr>
        <p:spPr>
          <a:xfrm>
            <a:off x="738150" y="285728"/>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Technology Used</a:t>
            </a:r>
            <a:endParaRPr sz="2400" b="1" i="0" u="none" strike="noStrike" cap="none">
              <a:solidFill>
                <a:srgbClr val="000000"/>
              </a:solidFill>
              <a:latin typeface="Arial"/>
              <a:ea typeface="Arial"/>
              <a:cs typeface="Arial"/>
              <a:sym typeface="Arial"/>
            </a:endParaRPr>
          </a:p>
        </p:txBody>
      </p:sp>
      <p:sp>
        <p:nvSpPr>
          <p:cNvPr id="108" name="Google Shape;108;p36"/>
          <p:cNvSpPr txBox="1"/>
          <p:nvPr/>
        </p:nvSpPr>
        <p:spPr>
          <a:xfrm>
            <a:off x="809588" y="857232"/>
            <a:ext cx="10515600" cy="6894155"/>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dirty="0">
                <a:solidFill>
                  <a:srgbClr val="000000"/>
                </a:solidFill>
                <a:latin typeface="+mn-lt"/>
                <a:ea typeface="Arial"/>
                <a:cs typeface="Arial"/>
                <a:sym typeface="Arial"/>
              </a:rPr>
              <a:t>Flask (Python) </a:t>
            </a:r>
            <a:r>
              <a:rPr lang="en-US" sz="1800" b="0" i="0" u="none" strike="noStrike" cap="none" dirty="0">
                <a:solidFill>
                  <a:srgbClr val="000000"/>
                </a:solidFill>
                <a:latin typeface="+mn-lt"/>
                <a:ea typeface="Arial"/>
                <a:cs typeface="Arial"/>
                <a:sym typeface="Arial"/>
              </a:rPr>
              <a:t>-Lightweight backend web framework serving all pages, routes, and API calls</a:t>
            </a:r>
            <a:endParaRPr>
              <a:latin typeface="+mn-lt"/>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mn-lt"/>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dirty="0">
                <a:solidFill>
                  <a:srgbClr val="000000"/>
                </a:solidFill>
                <a:latin typeface="+mn-lt"/>
                <a:ea typeface="Arial"/>
                <a:cs typeface="Arial"/>
                <a:sym typeface="Arial"/>
              </a:rPr>
              <a:t>IBM watsonx.ai Foundation Model </a:t>
            </a:r>
            <a:r>
              <a:rPr lang="en-US" sz="1800" b="0" i="0" u="none" strike="noStrike" cap="none" dirty="0">
                <a:solidFill>
                  <a:srgbClr val="000000"/>
                </a:solidFill>
                <a:latin typeface="+mn-lt"/>
                <a:ea typeface="Arial"/>
                <a:cs typeface="Arial"/>
                <a:sym typeface="Arial"/>
              </a:rPr>
              <a:t>- Meta Llama 3.3 70B Instruct, served via watsonx.ai (IBM Granite models also supported on the platform) – for natural language understanding, reasoning, and personalization</a:t>
            </a:r>
            <a:endParaRPr>
              <a:latin typeface="+mn-lt"/>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mn-lt"/>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dirty="0">
                <a:solidFill>
                  <a:srgbClr val="000000"/>
                </a:solidFill>
                <a:latin typeface="+mn-lt"/>
                <a:ea typeface="Arial"/>
                <a:cs typeface="Arial"/>
                <a:sym typeface="Arial"/>
              </a:rPr>
              <a:t>IBM Cloud </a:t>
            </a:r>
            <a:r>
              <a:rPr lang="en-US" sz="1800" b="0" i="0" u="none" strike="noStrike" cap="none" dirty="0">
                <a:solidFill>
                  <a:srgbClr val="000000"/>
                </a:solidFill>
                <a:latin typeface="+mn-lt"/>
                <a:ea typeface="Arial"/>
                <a:cs typeface="Arial"/>
                <a:sym typeface="Arial"/>
              </a:rPr>
              <a:t>– It provides the infrastructure to build, deploy, and scale the Nutrition Agent efficiently. IBM Cloud enables a </a:t>
            </a:r>
            <a:r>
              <a:rPr lang="en-US" sz="1800" b="1" i="0" u="none" strike="noStrike" cap="none" dirty="0">
                <a:solidFill>
                  <a:srgbClr val="000000"/>
                </a:solidFill>
                <a:latin typeface="+mn-lt"/>
                <a:ea typeface="Arial"/>
                <a:cs typeface="Arial"/>
                <a:sym typeface="Arial"/>
              </a:rPr>
              <a:t>reliable, secure, and scalable environment</a:t>
            </a:r>
            <a:r>
              <a:rPr lang="en-US" sz="1800" b="0" i="0" u="none" strike="noStrike" cap="none" dirty="0">
                <a:solidFill>
                  <a:srgbClr val="000000"/>
                </a:solidFill>
                <a:latin typeface="+mn-lt"/>
                <a:ea typeface="Arial"/>
                <a:cs typeface="Arial"/>
                <a:sym typeface="Arial"/>
              </a:rPr>
              <a:t> for deploying the Nutrition Agent</a:t>
            </a:r>
            <a:r>
              <a:rPr lang="en-US" sz="1800" b="0" i="0" u="none" strike="noStrike" cap="none" dirty="0" smtClean="0">
                <a:solidFill>
                  <a:srgbClr val="000000"/>
                </a:solidFill>
                <a:latin typeface="+mn-lt"/>
                <a:ea typeface="Arial"/>
                <a:cs typeface="Arial"/>
                <a:sym typeface="Arial"/>
              </a:rPr>
              <a:t>.</a:t>
            </a:r>
          </a:p>
          <a:p>
            <a:pPr marL="285750" marR="0" lvl="0" indent="-285750" algn="l" rtl="0">
              <a:lnSpc>
                <a:spcPct val="100000"/>
              </a:lnSpc>
              <a:spcBef>
                <a:spcPts val="0"/>
              </a:spcBef>
              <a:spcAft>
                <a:spcPts val="0"/>
              </a:spcAft>
              <a:buClr>
                <a:srgbClr val="000000"/>
              </a:buClr>
              <a:buSzPts val="1800"/>
              <a:buFont typeface="Arial"/>
              <a:buChar char="•"/>
            </a:pPr>
            <a:endParaRPr lang="en-IN" sz="1800" dirty="0" smtClean="0">
              <a:latin typeface="+mn-lt"/>
            </a:endParaRPr>
          </a:p>
          <a:p>
            <a:pPr marL="285750" lvl="0" indent="-285750">
              <a:buSzPts val="1800"/>
              <a:buFont typeface="Arial"/>
              <a:buChar char="•"/>
            </a:pPr>
            <a:r>
              <a:rPr lang="en-US" sz="1800" b="1" dirty="0" smtClean="0">
                <a:latin typeface="+mn-lt"/>
              </a:rPr>
              <a:t>IBM BOB</a:t>
            </a:r>
            <a:r>
              <a:rPr lang="en-US" sz="1800" dirty="0" smtClean="0">
                <a:latin typeface="+mn-lt"/>
              </a:rPr>
              <a:t> – IBM's AI-powered development assistant, used to help generate, debug, and refine parts of the </a:t>
            </a:r>
            <a:r>
              <a:rPr lang="en-US" sz="1800" dirty="0" err="1" smtClean="0">
                <a:latin typeface="+mn-lt"/>
              </a:rPr>
              <a:t>NutriBot</a:t>
            </a:r>
            <a:r>
              <a:rPr lang="en-US" sz="1800" dirty="0" smtClean="0">
                <a:latin typeface="+mn-lt"/>
              </a:rPr>
              <a:t> codebase during development.</a:t>
            </a:r>
            <a:endParaRPr sz="1800">
              <a:latin typeface="+mn-lt"/>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mn-lt"/>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dirty="0">
                <a:solidFill>
                  <a:srgbClr val="000000"/>
                </a:solidFill>
                <a:latin typeface="+mn-lt"/>
                <a:ea typeface="Arial"/>
                <a:cs typeface="Arial"/>
                <a:sym typeface="Arial"/>
              </a:rPr>
              <a:t>Prompt Engineering– </a:t>
            </a:r>
            <a:r>
              <a:rPr lang="en-US" sz="1800" b="0" i="0" u="none" strike="noStrike" cap="none" dirty="0">
                <a:solidFill>
                  <a:srgbClr val="000000"/>
                </a:solidFill>
                <a:latin typeface="+mn-lt"/>
                <a:ea typeface="Arial"/>
                <a:cs typeface="Arial"/>
                <a:sym typeface="Arial"/>
              </a:rPr>
              <a:t>A carefully engineered system prompt (agent.py) </a:t>
            </a:r>
            <a:r>
              <a:rPr lang="en-US" sz="1800" b="1" i="0" u="none" strike="noStrike" cap="none" dirty="0">
                <a:solidFill>
                  <a:srgbClr val="000000"/>
                </a:solidFill>
                <a:latin typeface="+mn-lt"/>
                <a:ea typeface="Arial"/>
                <a:cs typeface="Arial"/>
                <a:sym typeface="Arial"/>
              </a:rPr>
              <a:t>encodes nutrition domain knowledge, persona, and safety rules</a:t>
            </a:r>
            <a:r>
              <a:rPr lang="en-US" sz="1800" b="0" i="0" u="none" strike="noStrike" cap="none" dirty="0">
                <a:solidFill>
                  <a:srgbClr val="000000"/>
                </a:solidFill>
                <a:latin typeface="+mn-lt"/>
                <a:ea typeface="Arial"/>
                <a:cs typeface="Arial"/>
                <a:sym typeface="Arial"/>
              </a:rPr>
              <a:t>, making the Nutrition Agent more trustworthy and effective.</a:t>
            </a:r>
            <a:endParaRPr>
              <a:latin typeface="+mn-lt"/>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mn-lt"/>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dirty="0">
                <a:solidFill>
                  <a:srgbClr val="000000"/>
                </a:solidFill>
                <a:latin typeface="+mn-lt"/>
                <a:ea typeface="Arial"/>
                <a:cs typeface="Arial"/>
                <a:sym typeface="Arial"/>
              </a:rPr>
              <a:t>IBM Watsonx.ai - </a:t>
            </a:r>
            <a:r>
              <a:rPr lang="en-US" sz="1800" b="0" i="0" u="none" strike="noStrike" cap="none" dirty="0">
                <a:solidFill>
                  <a:srgbClr val="000000"/>
                </a:solidFill>
                <a:latin typeface="+mn-lt"/>
                <a:ea typeface="Arial"/>
                <a:cs typeface="Arial"/>
                <a:sym typeface="Arial"/>
              </a:rPr>
              <a:t>For secure, IAM-authenticated foundation model deployment and inference</a:t>
            </a:r>
            <a:endParaRPr>
              <a:latin typeface="+mn-lt"/>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mn-lt"/>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dirty="0">
                <a:solidFill>
                  <a:srgbClr val="000000"/>
                </a:solidFill>
                <a:latin typeface="+mn-lt"/>
                <a:ea typeface="Arial"/>
                <a:cs typeface="Arial"/>
                <a:sym typeface="Arial"/>
              </a:rPr>
              <a:t>Bootstrap 5 &amp; marked.js </a:t>
            </a:r>
            <a:r>
              <a:rPr lang="en-US" sz="1800" b="0" i="0" u="none" strike="noStrike" cap="none" dirty="0">
                <a:solidFill>
                  <a:srgbClr val="000000"/>
                </a:solidFill>
                <a:latin typeface="+mn-lt"/>
                <a:ea typeface="Arial"/>
                <a:cs typeface="Arial"/>
                <a:sym typeface="Arial"/>
              </a:rPr>
              <a:t>– For the responsive dark-mode UI and Markdown-rendered chat responses</a:t>
            </a:r>
            <a:endParaRPr sz="1800" b="0" i="0" u="none" strike="noStrike" cap="none">
              <a:solidFill>
                <a:srgbClr val="000000"/>
              </a:solidFill>
              <a:latin typeface="+mn-lt"/>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Key</a:t>
            </a: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00000"/>
                </a:solidFill>
                <a:latin typeface="Arial"/>
                <a:ea typeface="Arial"/>
                <a:cs typeface="Arial"/>
                <a:sym typeface="Arial"/>
              </a:rPr>
              <a:t>components Used -</a:t>
            </a:r>
            <a:endParaRPr sz="2400" b="1" i="0" u="none" strike="noStrike" cap="none">
              <a:solidFill>
                <a:srgbClr val="000000"/>
              </a:solidFill>
              <a:latin typeface="Arial"/>
              <a:ea typeface="Arial"/>
              <a:cs typeface="Arial"/>
              <a:sym typeface="Arial"/>
            </a:endParaRPr>
          </a:p>
        </p:txBody>
      </p:sp>
      <p:sp>
        <p:nvSpPr>
          <p:cNvPr id="114" name="Google Shape;114;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5" name="Google Shape;115;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6" name="Google Shape;116;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7" name="Google Shape;117;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8" name="Google Shape;118;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9" name="Google Shape;119;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20" name="Google Shape;120;p37"/>
          <p:cNvSpPr txBox="1"/>
          <p:nvPr/>
        </p:nvSpPr>
        <p:spPr>
          <a:xfrm>
            <a:off x="474822" y="863187"/>
            <a:ext cx="8823960" cy="64632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600" b="1" i="0" u="none" strike="noStrike" cap="none" dirty="0">
                <a:solidFill>
                  <a:srgbClr val="000000"/>
                </a:solidFill>
                <a:latin typeface="Arial"/>
                <a:ea typeface="Arial"/>
                <a:cs typeface="Arial"/>
                <a:sym typeface="Arial"/>
              </a:rPr>
              <a:t>1) Chat Input </a:t>
            </a:r>
            <a:r>
              <a:rPr lang="en-US" sz="1600" b="0" i="0" u="none" strike="noStrike" cap="none" dirty="0">
                <a:solidFill>
                  <a:srgbClr val="000000"/>
                </a:solidFill>
                <a:latin typeface="Arial"/>
                <a:ea typeface="Arial"/>
                <a:cs typeface="Arial"/>
                <a:sym typeface="Arial"/>
              </a:rPr>
              <a:t>– Web form on each page (Chat, Nutrition, Meal Plan, BMI, Family) where users enter queries, profile details, or meal data.</a:t>
            </a:r>
            <a:endParaRPr sz="1600"/>
          </a:p>
          <a:p>
            <a:pPr marL="0" marR="0" lvl="0" indent="0" algn="l" rtl="0">
              <a:lnSpc>
                <a:spcPct val="100000"/>
              </a:lnSpc>
              <a:spcBef>
                <a:spcPts val="0"/>
              </a:spcBef>
              <a:spcAft>
                <a:spcPts val="0"/>
              </a:spcAft>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600" b="1" i="0" u="none" strike="noStrike" cap="none" dirty="0">
                <a:solidFill>
                  <a:srgbClr val="000000"/>
                </a:solidFill>
                <a:latin typeface="Arial"/>
                <a:ea typeface="Arial"/>
                <a:cs typeface="Arial"/>
                <a:sym typeface="Arial"/>
              </a:rPr>
              <a:t>2) agent.py (Watsonx.ai client) </a:t>
            </a:r>
            <a:r>
              <a:rPr lang="en-US" sz="1600" b="0" i="0" u="none" strike="noStrike" cap="none" dirty="0">
                <a:solidFill>
                  <a:srgbClr val="000000"/>
                </a:solidFill>
                <a:latin typeface="Arial"/>
                <a:ea typeface="Arial"/>
                <a:cs typeface="Arial"/>
                <a:sym typeface="Arial"/>
              </a:rPr>
              <a:t>- Builds the prompt from AGENT_INSTRUCTIONS + user input and calls the watsonx.ai foundation model API to generate personalized nutrition insights. </a:t>
            </a:r>
            <a:endParaRPr sz="1600"/>
          </a:p>
          <a:p>
            <a:pPr marL="0" marR="0" lvl="0" indent="0" algn="l" rtl="0">
              <a:lnSpc>
                <a:spcPct val="100000"/>
              </a:lnSpc>
              <a:spcBef>
                <a:spcPts val="0"/>
              </a:spcBef>
              <a:spcAft>
                <a:spcPts val="0"/>
              </a:spcAft>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600" b="1" i="0" u="none" strike="noStrike" cap="none" dirty="0">
                <a:solidFill>
                  <a:srgbClr val="000000"/>
                </a:solidFill>
                <a:latin typeface="Arial"/>
                <a:ea typeface="Arial"/>
                <a:cs typeface="Arial"/>
                <a:sym typeface="Arial"/>
              </a:rPr>
              <a:t>3) Name of foundation model - </a:t>
            </a:r>
            <a:r>
              <a:rPr lang="en-US" sz="1600" b="0" i="0" u="none" strike="noStrike" cap="none" dirty="0">
                <a:solidFill>
                  <a:srgbClr val="000000"/>
                </a:solidFill>
                <a:latin typeface="Arial"/>
                <a:ea typeface="Arial"/>
                <a:cs typeface="Arial"/>
                <a:sym typeface="Arial"/>
              </a:rPr>
              <a:t>Meta Llama 3.3 70B Instruct (via IBM watsonx.ai) → Fast, efficient for real-time diet recommendations</a:t>
            </a:r>
            <a:endParaRPr sz="1600"/>
          </a:p>
          <a:p>
            <a:pPr marL="0" marR="0" lvl="0" indent="0" algn="l" rtl="0">
              <a:lnSpc>
                <a:spcPct val="100000"/>
              </a:lnSpc>
              <a:spcBef>
                <a:spcPts val="0"/>
              </a:spcBef>
              <a:spcAft>
                <a:spcPts val="0"/>
              </a:spcAft>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600" b="1" i="0" u="none" strike="noStrike" cap="none" dirty="0">
                <a:solidFill>
                  <a:srgbClr val="000000"/>
                </a:solidFill>
                <a:latin typeface="Arial"/>
                <a:ea typeface="Arial"/>
                <a:cs typeface="Arial"/>
                <a:sym typeface="Arial"/>
              </a:rPr>
              <a:t>4) Chat output -</a:t>
            </a:r>
            <a:r>
              <a:rPr lang="en-US" sz="1600" b="0" i="0" u="none" strike="noStrike" cap="none" dirty="0">
                <a:solidFill>
                  <a:srgbClr val="000000"/>
                </a:solidFill>
                <a:latin typeface="Arial"/>
                <a:ea typeface="Arial"/>
                <a:cs typeface="Arial"/>
                <a:sym typeface="Arial"/>
              </a:rPr>
              <a:t>Displays AI-generated responses (meal plans, nutrition breakdowns, BMI advice) rendered as formatted Markdown via marked.js. </a:t>
            </a:r>
            <a:endParaRPr sz="1600"/>
          </a:p>
          <a:p>
            <a:pPr marL="0" marR="0" lvl="0" indent="0" algn="l" rtl="0">
              <a:lnSpc>
                <a:spcPct val="100000"/>
              </a:lnSpc>
              <a:spcBef>
                <a:spcPts val="0"/>
              </a:spcBef>
              <a:spcAft>
                <a:spcPts val="0"/>
              </a:spcAft>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600" b="1" i="0" u="none" strike="noStrike" cap="none" dirty="0">
                <a:solidFill>
                  <a:srgbClr val="000000"/>
                </a:solidFill>
                <a:latin typeface="Arial"/>
                <a:ea typeface="Arial"/>
                <a:cs typeface="Arial"/>
                <a:sym typeface="Arial"/>
              </a:rPr>
              <a:t>5) </a:t>
            </a:r>
            <a:r>
              <a:rPr lang="en-US" sz="1600" b="1" i="0" u="none" strike="noStrike" cap="none" dirty="0">
                <a:solidFill>
                  <a:srgbClr val="000000"/>
                </a:solidFill>
                <a:highlight>
                  <a:srgbClr val="FFFF00"/>
                </a:highlight>
                <a:latin typeface="Arial"/>
                <a:ea typeface="Arial"/>
                <a:cs typeface="Arial"/>
                <a:sym typeface="Arial"/>
              </a:rPr>
              <a:t>Flask Session &amp; .</a:t>
            </a:r>
            <a:r>
              <a:rPr lang="en-US" sz="1600" b="1" i="0" u="none" strike="noStrike" cap="none" dirty="0" err="1">
                <a:solidFill>
                  <a:srgbClr val="000000"/>
                </a:solidFill>
                <a:highlight>
                  <a:srgbClr val="FFFF00"/>
                </a:highlight>
                <a:latin typeface="Arial"/>
                <a:ea typeface="Arial"/>
                <a:cs typeface="Arial"/>
                <a:sym typeface="Arial"/>
              </a:rPr>
              <a:t>env</a:t>
            </a:r>
            <a:r>
              <a:rPr lang="en-US" sz="1600" b="1" i="0" u="none" strike="noStrike" cap="none" dirty="0">
                <a:solidFill>
                  <a:srgbClr val="000000"/>
                </a:solidFill>
                <a:highlight>
                  <a:srgbClr val="FFFF00"/>
                </a:highlight>
                <a:latin typeface="Arial"/>
                <a:ea typeface="Arial"/>
                <a:cs typeface="Arial"/>
                <a:sym typeface="Arial"/>
              </a:rPr>
              <a:t> </a:t>
            </a:r>
            <a:r>
              <a:rPr lang="en-US" sz="1600" b="1" i="0" u="none" strike="noStrike" cap="none" dirty="0" err="1">
                <a:solidFill>
                  <a:srgbClr val="000000"/>
                </a:solidFill>
                <a:highlight>
                  <a:srgbClr val="FFFF00"/>
                </a:highlight>
                <a:latin typeface="Arial"/>
                <a:ea typeface="Arial"/>
                <a:cs typeface="Arial"/>
                <a:sym typeface="Arial"/>
              </a:rPr>
              <a:t>config</a:t>
            </a:r>
            <a:r>
              <a:rPr lang="en-US" sz="1600" b="1" i="0" u="none" strike="noStrike" cap="none" dirty="0">
                <a:solidFill>
                  <a:srgbClr val="000000"/>
                </a:solidFill>
                <a:highlight>
                  <a:srgbClr val="FFFF00"/>
                </a:highlight>
                <a:latin typeface="Arial"/>
                <a:ea typeface="Arial"/>
                <a:cs typeface="Arial"/>
                <a:sym typeface="Arial"/>
              </a:rPr>
              <a:t> - </a:t>
            </a:r>
            <a:r>
              <a:rPr lang="en-US" sz="1600" b="0" i="0" u="none" strike="noStrike" cap="none" dirty="0">
                <a:solidFill>
                  <a:srgbClr val="000000"/>
                </a:solidFill>
                <a:highlight>
                  <a:srgbClr val="FFFF00"/>
                </a:highlight>
                <a:latin typeface="Arial"/>
                <a:ea typeface="Arial"/>
                <a:cs typeface="Arial"/>
                <a:sym typeface="Arial"/>
              </a:rPr>
              <a:t>Stores user profile and chat history for the session (last 20 turns), and keeps IBM Cloud credentials out of source code.</a:t>
            </a:r>
            <a:endParaRPr sz="1600"/>
          </a:p>
          <a:p>
            <a:pPr marL="0" marR="0" lvl="0" indent="0" algn="l" rtl="0">
              <a:lnSpc>
                <a:spcPct val="100000"/>
              </a:lnSpc>
              <a:spcBef>
                <a:spcPts val="0"/>
              </a:spcBef>
              <a:spcAft>
                <a:spcPts val="0"/>
              </a:spcAft>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600" b="0" i="0" u="none" strike="noStrike" cap="none" dirty="0">
                <a:solidFill>
                  <a:srgbClr val="000000"/>
                </a:solidFill>
                <a:latin typeface="Arial"/>
                <a:ea typeface="Arial"/>
                <a:cs typeface="Arial"/>
                <a:sym typeface="Arial"/>
              </a:rPr>
              <a:t>6) </a:t>
            </a:r>
            <a:r>
              <a:rPr lang="en-US" sz="1600" b="0" i="0" u="none" strike="noStrike" cap="none" dirty="0">
                <a:solidFill>
                  <a:srgbClr val="000000"/>
                </a:solidFill>
                <a:highlight>
                  <a:srgbClr val="FFFF00"/>
                </a:highlight>
                <a:latin typeface="Arial"/>
                <a:ea typeface="Arial"/>
                <a:cs typeface="Arial"/>
                <a:sym typeface="Arial"/>
              </a:rPr>
              <a:t>Bootstrap 5 + marked.js frontend – Dark-mode responsive UI across all 5 pages, with Markdown rendering for AI responses.</a:t>
            </a:r>
            <a:endParaRPr sz="1600"/>
          </a:p>
          <a:p>
            <a:pPr marL="342900" marR="0" lvl="0" indent="-25400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38"/>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Application</a:t>
            </a: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00000"/>
                </a:solidFill>
                <a:latin typeface="Arial"/>
                <a:ea typeface="Arial"/>
                <a:cs typeface="Arial"/>
                <a:sym typeface="Arial"/>
              </a:rPr>
              <a:t>Screenshots – I</a:t>
            </a:r>
            <a:endParaRPr sz="2400" b="1" i="0" u="none" strike="noStrike" cap="none">
              <a:solidFill>
                <a:srgbClr val="000000"/>
              </a:solidFill>
              <a:latin typeface="Arial"/>
              <a:ea typeface="Arial"/>
              <a:cs typeface="Arial"/>
              <a:sym typeface="Arial"/>
            </a:endParaRPr>
          </a:p>
        </p:txBody>
      </p:sp>
      <p:pic>
        <p:nvPicPr>
          <p:cNvPr id="5" name="Picture 4" descr="Screenshot 2026-07-13 010734.png"/>
          <p:cNvPicPr>
            <a:picLocks noChangeAspect="1"/>
          </p:cNvPicPr>
          <p:nvPr/>
        </p:nvPicPr>
        <p:blipFill>
          <a:blip r:embed="rId3"/>
          <a:stretch>
            <a:fillRect/>
          </a:stretch>
        </p:blipFill>
        <p:spPr>
          <a:xfrm>
            <a:off x="523836" y="1071546"/>
            <a:ext cx="10644262" cy="528641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1" i="0" u="none" strike="noStrike" cap="none" dirty="0">
                <a:solidFill>
                  <a:schemeClr val="dk1"/>
                </a:solidFill>
                <a:latin typeface="Calibri"/>
                <a:ea typeface="Calibri"/>
                <a:cs typeface="Calibri"/>
                <a:sym typeface="Calibri"/>
              </a:rPr>
              <a:t>Application Screenshots – II</a:t>
            </a:r>
            <a:endParaRPr sz="2400" b="0" i="0" u="none" strike="noStrike" cap="none">
              <a:solidFill>
                <a:srgbClr val="000000"/>
              </a:solidFill>
              <a:latin typeface="Arial"/>
              <a:ea typeface="Arial"/>
              <a:cs typeface="Arial"/>
              <a:sym typeface="Arial"/>
            </a:endParaRPr>
          </a:p>
        </p:txBody>
      </p:sp>
      <p:pic>
        <p:nvPicPr>
          <p:cNvPr id="5" name="Picture 4" descr="Screenshot 2026-07-13 010808.png"/>
          <p:cNvPicPr>
            <a:picLocks noChangeAspect="1"/>
          </p:cNvPicPr>
          <p:nvPr/>
        </p:nvPicPr>
        <p:blipFill>
          <a:blip r:embed="rId3"/>
          <a:stretch>
            <a:fillRect/>
          </a:stretch>
        </p:blipFill>
        <p:spPr>
          <a:xfrm>
            <a:off x="666712" y="857232"/>
            <a:ext cx="10596594" cy="549389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2398" y="428604"/>
            <a:ext cx="4643470" cy="677108"/>
          </a:xfrm>
          <a:prstGeom prst="rect">
            <a:avLst/>
          </a:prstGeom>
          <a:noFill/>
        </p:spPr>
        <p:txBody>
          <a:bodyPr wrap="square" rtlCol="0">
            <a:spAutoFit/>
          </a:bodyPr>
          <a:lstStyle/>
          <a:p>
            <a:pPr lvl="0"/>
            <a:r>
              <a:rPr lang="en-US" sz="2400" b="1" dirty="0" smtClean="0">
                <a:solidFill>
                  <a:schemeClr val="dk1"/>
                </a:solidFill>
                <a:latin typeface="+mj-lt"/>
                <a:ea typeface="Calibri"/>
                <a:cs typeface="Calibri"/>
                <a:sym typeface="Calibri"/>
              </a:rPr>
              <a:t>Application Screenshots – III</a:t>
            </a:r>
            <a:endParaRPr lang="en-US" sz="2400" dirty="0" smtClean="0">
              <a:latin typeface="+mj-lt"/>
            </a:endParaRPr>
          </a:p>
          <a:p>
            <a:endParaRPr lang="en-US" dirty="0"/>
          </a:p>
        </p:txBody>
      </p:sp>
      <p:pic>
        <p:nvPicPr>
          <p:cNvPr id="4" name="Picture 3" descr="Screenshot 2026-07-13 011024.png"/>
          <p:cNvPicPr>
            <a:picLocks noChangeAspect="1"/>
          </p:cNvPicPr>
          <p:nvPr/>
        </p:nvPicPr>
        <p:blipFill>
          <a:blip r:embed="rId2"/>
          <a:stretch>
            <a:fillRect/>
          </a:stretch>
        </p:blipFill>
        <p:spPr>
          <a:xfrm>
            <a:off x="452398" y="1000108"/>
            <a:ext cx="10953784" cy="537167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pic>
        <p:nvPicPr>
          <p:cNvPr id="137" name="Google Shape;137;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138" name="Google Shape;138;p9"/>
          <p:cNvSpPr txBox="1"/>
          <p:nvPr/>
        </p:nvSpPr>
        <p:spPr>
          <a:xfrm>
            <a:off x="475488" y="283464"/>
            <a:ext cx="931773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Role of Agentic AI in the solution </a:t>
            </a:r>
            <a:endParaRPr sz="3200" b="1" i="0" u="none" strike="noStrike" cap="none">
              <a:solidFill>
                <a:srgbClr val="000000"/>
              </a:solidFill>
              <a:latin typeface="Arial"/>
              <a:ea typeface="Arial"/>
              <a:cs typeface="Arial"/>
              <a:sym typeface="Arial"/>
            </a:endParaRPr>
          </a:p>
        </p:txBody>
      </p:sp>
      <p:sp>
        <p:nvSpPr>
          <p:cNvPr id="139" name="Google Shape;139;p9"/>
          <p:cNvSpPr txBox="1"/>
          <p:nvPr/>
        </p:nvSpPr>
        <p:spPr>
          <a:xfrm>
            <a:off x="621792" y="1167493"/>
            <a:ext cx="7406640" cy="4524275"/>
          </a:xfrm>
          <a:prstGeom prst="rect">
            <a:avLst/>
          </a:prstGeom>
          <a:noFill/>
          <a:ln>
            <a:noFill/>
          </a:ln>
        </p:spPr>
        <p:txBody>
          <a:bodyPr spcFirstLastPara="1" wrap="square" lIns="91425" tIns="45700" rIns="91425" bIns="45700" anchor="t" anchorCtr="0">
            <a:spAutoFit/>
          </a:bodyPr>
          <a:lstStyle/>
          <a:p>
            <a:r>
              <a:rPr lang="en-US" sz="1800" dirty="0" err="1" smtClean="0"/>
              <a:t>Agentic</a:t>
            </a:r>
            <a:r>
              <a:rPr lang="en-US" sz="1800" dirty="0" smtClean="0"/>
              <a:t> AI serves as the intelligence layer of </a:t>
            </a:r>
            <a:r>
              <a:rPr lang="en-US" sz="1800" dirty="0" err="1" smtClean="0"/>
              <a:t>NutriBot</a:t>
            </a:r>
            <a:r>
              <a:rPr lang="en-US" sz="1800" dirty="0" smtClean="0"/>
              <a:t> by understanding user context and generating meaningful nutrition recommendations.</a:t>
            </a:r>
          </a:p>
          <a:p>
            <a:r>
              <a:rPr lang="en-US" sz="1800" dirty="0" smtClean="0"/>
              <a:t>Instead of relying on predefined rules, the AI analyzes information such as age, lifestyle, health conditions, dietary preferences, and fitness goals before suggesting suitable meal plans</a:t>
            </a:r>
            <a:r>
              <a:rPr lang="en-US" sz="1800" dirty="0" smtClean="0"/>
              <a:t>.</a:t>
            </a:r>
          </a:p>
          <a:p>
            <a:endParaRPr lang="en-US" sz="1800" dirty="0" smtClean="0"/>
          </a:p>
          <a:p>
            <a:r>
              <a:rPr lang="en-US" sz="1800" dirty="0" smtClean="0"/>
              <a:t>Its major contributions include</a:t>
            </a:r>
            <a:r>
              <a:rPr lang="en-US" sz="1800" dirty="0" smtClean="0"/>
              <a:t>:</a:t>
            </a:r>
          </a:p>
          <a:p>
            <a:endParaRPr lang="en-US" sz="1800" dirty="0" smtClean="0"/>
          </a:p>
          <a:p>
            <a:pPr>
              <a:buFont typeface="Arial" pitchFamily="34" charset="0"/>
              <a:buChar char="•"/>
            </a:pPr>
            <a:r>
              <a:rPr lang="en-US" sz="1800" dirty="0" smtClean="0"/>
              <a:t>Context-aware conversations </a:t>
            </a:r>
          </a:p>
          <a:p>
            <a:pPr>
              <a:buFont typeface="Arial" pitchFamily="34" charset="0"/>
              <a:buChar char="•"/>
            </a:pPr>
            <a:r>
              <a:rPr lang="en-US" sz="1800" dirty="0" smtClean="0"/>
              <a:t>Personalized nutrition advice </a:t>
            </a:r>
          </a:p>
          <a:p>
            <a:pPr>
              <a:buFont typeface="Arial" pitchFamily="34" charset="0"/>
              <a:buChar char="•"/>
            </a:pPr>
            <a:r>
              <a:rPr lang="en-US" sz="1800" dirty="0" smtClean="0"/>
              <a:t>Dynamic meal recommendations </a:t>
            </a:r>
          </a:p>
          <a:p>
            <a:pPr>
              <a:buFont typeface="Arial" pitchFamily="34" charset="0"/>
              <a:buChar char="•"/>
            </a:pPr>
            <a:r>
              <a:rPr lang="en-US" sz="1800" dirty="0" smtClean="0"/>
              <a:t>Continuous interaction using conversation history </a:t>
            </a:r>
          </a:p>
          <a:p>
            <a:pPr>
              <a:buFont typeface="Arial" pitchFamily="34" charset="0"/>
              <a:buChar char="•"/>
            </a:pPr>
            <a:r>
              <a:rPr lang="en-US" sz="1800" dirty="0" smtClean="0"/>
              <a:t>Intelligent health guidance based on user inputs </a:t>
            </a:r>
            <a:endParaRPr lang="en-US" sz="1800" dirty="0" smtClean="0"/>
          </a:p>
          <a:p>
            <a:endParaRPr lang="en-US" sz="1800" dirty="0" smtClean="0"/>
          </a:p>
          <a:p>
            <a:r>
              <a:rPr lang="en-US" sz="1800" dirty="0" smtClean="0"/>
              <a:t>This enables </a:t>
            </a:r>
            <a:r>
              <a:rPr lang="en-US" sz="1800" dirty="0" err="1" smtClean="0"/>
              <a:t>NutriBot</a:t>
            </a:r>
            <a:r>
              <a:rPr lang="en-US" sz="1800" dirty="0" smtClean="0"/>
              <a:t> to function as a virtual nutrition consultant capable of assisting users in making informed dietary decisions.</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40"/>
          <p:cNvSpPr txBox="1"/>
          <p:nvPr/>
        </p:nvSpPr>
        <p:spPr>
          <a:xfrm>
            <a:off x="738150" y="214290"/>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Novelty and Uniqueness</a:t>
            </a:r>
            <a:endParaRPr sz="2400" b="1" i="0" u="none" strike="noStrike" cap="none">
              <a:solidFill>
                <a:srgbClr val="000000"/>
              </a:solidFill>
              <a:latin typeface="Arial"/>
              <a:ea typeface="Arial"/>
              <a:cs typeface="Arial"/>
              <a:sym typeface="Arial"/>
            </a:endParaRPr>
          </a:p>
        </p:txBody>
      </p:sp>
      <p:sp>
        <p:nvSpPr>
          <p:cNvPr id="158" name="Google Shape;158;p40"/>
          <p:cNvSpPr txBox="1"/>
          <p:nvPr/>
        </p:nvSpPr>
        <p:spPr>
          <a:xfrm>
            <a:off x="738150" y="733287"/>
            <a:ext cx="11301984" cy="6124713"/>
          </a:xfrm>
          <a:prstGeom prst="rect">
            <a:avLst/>
          </a:prstGeom>
          <a:noFill/>
          <a:ln>
            <a:noFill/>
          </a:ln>
        </p:spPr>
        <p:txBody>
          <a:bodyPr spcFirstLastPara="1" wrap="square" lIns="91425" tIns="45700" rIns="91425" bIns="45700" anchor="t" anchorCtr="0">
            <a:spAutoFit/>
          </a:bodyPr>
          <a:lstStyle/>
          <a:p>
            <a:r>
              <a:rPr lang="en-US" sz="1800" dirty="0" err="1" smtClean="0"/>
              <a:t>NutriBot</a:t>
            </a:r>
            <a:r>
              <a:rPr lang="en-US" sz="1800" dirty="0" smtClean="0"/>
              <a:t> distinguishes itself from traditional nutrition applications by combining Artificial Intelligence, prompt engineering, and healthcare knowledge into a unified intelligent platform.</a:t>
            </a:r>
          </a:p>
          <a:p>
            <a:r>
              <a:rPr lang="en-US" sz="1800" dirty="0" smtClean="0"/>
              <a:t>Unlike standard calorie calculators, </a:t>
            </a:r>
            <a:r>
              <a:rPr lang="en-US" sz="1800" dirty="0" err="1" smtClean="0"/>
              <a:t>NutriBot</a:t>
            </a:r>
            <a:r>
              <a:rPr lang="en-US" sz="1800" dirty="0" smtClean="0"/>
              <a:t> understands user context and generates personalized recommendations using IBM Foundation Models. The system also incorporates Indian dietary practices and BMI standards, making recommendations more relevant for Indian users</a:t>
            </a:r>
            <a:r>
              <a:rPr lang="en-US" sz="1800" dirty="0" smtClean="0"/>
              <a:t>.</a:t>
            </a:r>
          </a:p>
          <a:p>
            <a:endParaRPr lang="en-US" sz="1800" dirty="0" smtClean="0"/>
          </a:p>
          <a:p>
            <a:r>
              <a:rPr lang="en-US" sz="1800" b="1" dirty="0" smtClean="0"/>
              <a:t>Unique </a:t>
            </a:r>
            <a:r>
              <a:rPr lang="en-US" sz="1800" b="1" dirty="0" smtClean="0"/>
              <a:t>Features:</a:t>
            </a:r>
          </a:p>
          <a:p>
            <a:endParaRPr lang="en-US" sz="1800" b="1" dirty="0" smtClean="0"/>
          </a:p>
          <a:p>
            <a:pPr>
              <a:buFont typeface="Arial" pitchFamily="34" charset="0"/>
              <a:buChar char="•"/>
            </a:pPr>
            <a:r>
              <a:rPr lang="en-US" sz="1800" dirty="0" smtClean="0"/>
              <a:t>AI-driven personalized nutrition guidance </a:t>
            </a:r>
          </a:p>
          <a:p>
            <a:pPr>
              <a:buFont typeface="Arial" pitchFamily="34" charset="0"/>
              <a:buChar char="•"/>
            </a:pPr>
            <a:r>
              <a:rPr lang="en-US" sz="1800" dirty="0" smtClean="0"/>
              <a:t>Indian food specialization </a:t>
            </a:r>
          </a:p>
          <a:p>
            <a:pPr>
              <a:buFont typeface="Arial" pitchFamily="34" charset="0"/>
              <a:buChar char="•"/>
            </a:pPr>
            <a:r>
              <a:rPr lang="en-US" sz="1800" dirty="0" smtClean="0"/>
              <a:t>Integrated health analysis </a:t>
            </a:r>
          </a:p>
          <a:p>
            <a:pPr>
              <a:buFont typeface="Arial" pitchFamily="34" charset="0"/>
              <a:buChar char="•"/>
            </a:pPr>
            <a:r>
              <a:rPr lang="en-US" sz="1800" dirty="0" smtClean="0"/>
              <a:t>Family nutrition planning </a:t>
            </a:r>
          </a:p>
          <a:p>
            <a:pPr>
              <a:buFont typeface="Arial" pitchFamily="34" charset="0"/>
              <a:buChar char="•"/>
            </a:pPr>
            <a:r>
              <a:rPr lang="en-US" sz="1800" dirty="0" smtClean="0"/>
              <a:t>Interactive conversational AI </a:t>
            </a:r>
          </a:p>
          <a:p>
            <a:pPr>
              <a:buFont typeface="Arial" pitchFamily="34" charset="0"/>
              <a:buChar char="•"/>
            </a:pPr>
            <a:r>
              <a:rPr lang="en-US" sz="1800" dirty="0" smtClean="0"/>
              <a:t>Dark mode responsive dashboard </a:t>
            </a:r>
          </a:p>
          <a:p>
            <a:pPr>
              <a:buFont typeface="Arial" pitchFamily="34" charset="0"/>
              <a:buChar char="•"/>
            </a:pPr>
            <a:r>
              <a:rPr lang="en-US" sz="1800" dirty="0" smtClean="0"/>
              <a:t>IBM watsonx.ai integration </a:t>
            </a:r>
          </a:p>
          <a:p>
            <a:pPr>
              <a:buFont typeface="Arial" pitchFamily="34" charset="0"/>
              <a:buChar char="•"/>
            </a:pPr>
            <a:r>
              <a:rPr lang="en-US" sz="1800" dirty="0" smtClean="0"/>
              <a:t>Preventive healthcare recommendations </a:t>
            </a:r>
          </a:p>
          <a:p>
            <a:pPr>
              <a:buFont typeface="Arial" pitchFamily="34" charset="0"/>
              <a:buChar char="•"/>
            </a:pPr>
            <a:r>
              <a:rPr lang="en-US" sz="1800" dirty="0" smtClean="0"/>
              <a:t>Scalable cloud-based architecture </a:t>
            </a:r>
          </a:p>
          <a:p>
            <a:pPr>
              <a:buFont typeface="Arial" pitchFamily="34" charset="0"/>
              <a:buChar char="•"/>
            </a:pPr>
            <a:r>
              <a:rPr lang="en-US" sz="1800" dirty="0" smtClean="0"/>
              <a:t>Modern user interface </a:t>
            </a:r>
            <a:endParaRPr lang="en-US" sz="1800" dirty="0" smtClean="0"/>
          </a:p>
          <a:p>
            <a:pPr>
              <a:buFont typeface="Arial" pitchFamily="34" charset="0"/>
              <a:buChar char="•"/>
            </a:pPr>
            <a:endParaRPr lang="en-US" sz="1800" dirty="0" smtClean="0"/>
          </a:p>
          <a:p>
            <a:r>
              <a:rPr lang="en-US" sz="1800" dirty="0" smtClean="0"/>
              <a:t>This combination transforms </a:t>
            </a:r>
            <a:r>
              <a:rPr lang="en-US" sz="1800" dirty="0" err="1" smtClean="0"/>
              <a:t>NutriBot</a:t>
            </a:r>
            <a:r>
              <a:rPr lang="en-US" sz="1800" dirty="0" smtClean="0"/>
              <a:t> into a smart digital nutrition companion rather than a conventional diet planning application.</a:t>
            </a: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1"/>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Git Hub Link</a:t>
            </a:r>
            <a:endParaRPr sz="2400" b="1" i="0" u="none" strike="noStrike" cap="none">
              <a:solidFill>
                <a:srgbClr val="000000"/>
              </a:solidFill>
              <a:latin typeface="Arial"/>
              <a:ea typeface="Arial"/>
              <a:cs typeface="Arial"/>
              <a:sym typeface="Arial"/>
            </a:endParaRPr>
          </a:p>
        </p:txBody>
      </p:sp>
      <p:sp>
        <p:nvSpPr>
          <p:cNvPr id="164" name="Google Shape;164;p41"/>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a:t>
            </a:r>
            <a:r>
              <a:rPr lang="en-US" sz="1850" b="0" i="0" u="none" strike="noStrike" cap="none" dirty="0" err="1" smtClean="0">
                <a:solidFill>
                  <a:srgbClr val="2B3541"/>
                </a:solidFill>
                <a:latin typeface="Times New Roman"/>
                <a:ea typeface="Times New Roman"/>
                <a:cs typeface="Times New Roman"/>
                <a:sym typeface="Times New Roman"/>
              </a:rPr>
              <a:t>Github</a:t>
            </a:r>
            <a:r>
              <a:rPr lang="en-US" sz="1850" b="0" i="0" u="none" strike="noStrike" cap="none" dirty="0" smtClean="0">
                <a:solidFill>
                  <a:srgbClr val="2B3541"/>
                </a:solidFill>
                <a:latin typeface="Times New Roman"/>
                <a:ea typeface="Times New Roman"/>
                <a:cs typeface="Times New Roman"/>
                <a:sym typeface="Times New Roman"/>
              </a:rPr>
              <a:t> </a:t>
            </a:r>
            <a:r>
              <a:rPr lang="en-US" sz="1850" b="0" i="0" u="none" strike="noStrike" cap="none" dirty="0">
                <a:solidFill>
                  <a:srgbClr val="2B3541"/>
                </a:solidFill>
                <a:latin typeface="Times New Roman"/>
                <a:ea typeface="Times New Roman"/>
                <a:cs typeface="Times New Roman"/>
                <a:sym typeface="Times New Roman"/>
              </a:rPr>
              <a:t>URL –</a:t>
            </a:r>
            <a:endParaRPr/>
          </a:p>
          <a:p>
            <a:pPr lvl="0">
              <a:lnSpc>
                <a:spcPct val="162162"/>
              </a:lnSpc>
            </a:pPr>
            <a:r>
              <a:rPr lang="en-US" sz="1850" b="1" u="sng" dirty="0" smtClean="0">
                <a:solidFill>
                  <a:srgbClr val="1155CC"/>
                </a:solidFill>
                <a:latin typeface="Times New Roman"/>
                <a:ea typeface="Times New Roman"/>
                <a:cs typeface="Times New Roman"/>
                <a:sym typeface="Times New Roman"/>
              </a:rPr>
              <a:t>https://github.com/Saloni90sharma/Nutrition-Agent</a:t>
            </a:r>
            <a:endParaRPr sz="1850" b="0" i="0" u="none" strike="noStrike" cap="none">
              <a:solidFill>
                <a:srgbClr val="000000"/>
              </a:solidFill>
              <a:latin typeface="Times New Roman"/>
              <a:ea typeface="Times New Roman"/>
              <a:cs typeface="Times New Roman"/>
              <a:sym typeface="Times New Roman"/>
            </a:endParaRPr>
          </a:p>
        </p:txBody>
      </p:sp>
      <p:sp>
        <p:nvSpPr>
          <p:cNvPr id="165" name="Google Shape;165;p41"/>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166" name="Google Shape;166;p41"/>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167" name="Google Shape;167;p41"/>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42"/>
          <p:cNvSpPr/>
          <p:nvPr/>
        </p:nvSpPr>
        <p:spPr>
          <a:xfrm>
            <a:off x="1166778" y="21429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dirty="0">
                <a:solidFill>
                  <a:srgbClr val="000000"/>
                </a:solidFill>
                <a:latin typeface="Arial"/>
                <a:ea typeface="Arial"/>
                <a:cs typeface="Arial"/>
                <a:sym typeface="Arial"/>
              </a:rPr>
              <a:t>Future Scope </a:t>
            </a:r>
            <a:endParaRPr sz="2400" b="1" i="0" u="none" strike="noStrike" cap="none">
              <a:solidFill>
                <a:srgbClr val="000000"/>
              </a:solidFill>
              <a:latin typeface="Arial"/>
              <a:ea typeface="Arial"/>
              <a:cs typeface="Arial"/>
              <a:sym typeface="Arial"/>
            </a:endParaRPr>
          </a:p>
        </p:txBody>
      </p:sp>
      <p:sp>
        <p:nvSpPr>
          <p:cNvPr id="173" name="Google Shape;173;p42"/>
          <p:cNvSpPr/>
          <p:nvPr/>
        </p:nvSpPr>
        <p:spPr>
          <a:xfrm>
            <a:off x="1166778" y="928670"/>
            <a:ext cx="9214580" cy="4707615"/>
          </a:xfrm>
          <a:prstGeom prst="rect">
            <a:avLst/>
          </a:prstGeom>
          <a:noFill/>
          <a:ln>
            <a:noFill/>
          </a:ln>
        </p:spPr>
        <p:txBody>
          <a:bodyPr spcFirstLastPara="1" wrap="square" lIns="0" tIns="0" rIns="0" bIns="0" anchor="t" anchorCtr="0">
            <a:noAutofit/>
          </a:bodyPr>
          <a:lstStyle/>
          <a:p>
            <a:r>
              <a:rPr lang="en-US" sz="2000" dirty="0" smtClean="0"/>
              <a:t>Although </a:t>
            </a:r>
            <a:r>
              <a:rPr lang="en-US" sz="2000" dirty="0" err="1" smtClean="0"/>
              <a:t>NutriBot</a:t>
            </a:r>
            <a:r>
              <a:rPr lang="en-US" sz="2000" dirty="0" smtClean="0"/>
              <a:t> currently provides intelligent nutrition guidance, several enhancements can further improve its capabilities</a:t>
            </a:r>
            <a:r>
              <a:rPr lang="en-US" sz="2000" dirty="0" smtClean="0"/>
              <a:t>.</a:t>
            </a:r>
          </a:p>
          <a:p>
            <a:endParaRPr lang="en-US" sz="2000" dirty="0" smtClean="0"/>
          </a:p>
          <a:p>
            <a:r>
              <a:rPr lang="en-US" sz="2000" b="1" dirty="0" smtClean="0"/>
              <a:t>Future </a:t>
            </a:r>
            <a:r>
              <a:rPr lang="en-US" sz="2000" b="1" dirty="0" smtClean="0"/>
              <a:t>Enhancements :</a:t>
            </a:r>
          </a:p>
          <a:p>
            <a:endParaRPr lang="en-US" sz="1200" b="1" dirty="0" smtClean="0"/>
          </a:p>
          <a:p>
            <a:pPr>
              <a:buFont typeface="Arial" pitchFamily="34" charset="0"/>
              <a:buChar char="•"/>
            </a:pPr>
            <a:r>
              <a:rPr lang="en-US" sz="2000" dirty="0" smtClean="0"/>
              <a:t>Support Hindi and additional regional Indian languages. </a:t>
            </a:r>
          </a:p>
          <a:p>
            <a:pPr>
              <a:buFont typeface="Arial" pitchFamily="34" charset="0"/>
              <a:buChar char="•"/>
            </a:pPr>
            <a:r>
              <a:rPr lang="en-US" sz="2000" dirty="0" smtClean="0"/>
              <a:t>Deploy the application on IBM Cloud Code Engine for production use. </a:t>
            </a:r>
          </a:p>
          <a:p>
            <a:pPr>
              <a:buFont typeface="Arial" pitchFamily="34" charset="0"/>
              <a:buChar char="•"/>
            </a:pPr>
            <a:r>
              <a:rPr lang="en-US" sz="2000" dirty="0" smtClean="0"/>
              <a:t>Introduce secure user authentication and cloud profile storage. </a:t>
            </a:r>
          </a:p>
          <a:p>
            <a:pPr>
              <a:buFont typeface="Arial" pitchFamily="34" charset="0"/>
              <a:buChar char="•"/>
            </a:pPr>
            <a:r>
              <a:rPr lang="en-US" sz="2000" dirty="0" smtClean="0"/>
              <a:t>Integrate wearable devices such as </a:t>
            </a:r>
            <a:r>
              <a:rPr lang="en-US" sz="2000" dirty="0" err="1" smtClean="0"/>
              <a:t>Fitbit</a:t>
            </a:r>
            <a:r>
              <a:rPr lang="en-US" sz="2000" dirty="0" smtClean="0"/>
              <a:t> and </a:t>
            </a:r>
            <a:r>
              <a:rPr lang="en-US" sz="2000" dirty="0" err="1" smtClean="0"/>
              <a:t>smartwatches</a:t>
            </a:r>
            <a:r>
              <a:rPr lang="en-US" sz="2000" dirty="0" smtClean="0"/>
              <a:t>. </a:t>
            </a:r>
          </a:p>
          <a:p>
            <a:pPr>
              <a:buFont typeface="Arial" pitchFamily="34" charset="0"/>
              <a:buChar char="•"/>
            </a:pPr>
            <a:r>
              <a:rPr lang="en-US" sz="2000" dirty="0" smtClean="0"/>
              <a:t>Implement AI-based food image recognition for automatic calorie estimation. </a:t>
            </a:r>
          </a:p>
          <a:p>
            <a:pPr>
              <a:buFont typeface="Arial" pitchFamily="34" charset="0"/>
              <a:buChar char="•"/>
            </a:pPr>
            <a:r>
              <a:rPr lang="en-US" sz="2000" dirty="0" smtClean="0"/>
              <a:t>Track nutrition history through interactive dashboards. </a:t>
            </a:r>
          </a:p>
          <a:p>
            <a:pPr>
              <a:buFont typeface="Arial" pitchFamily="34" charset="0"/>
              <a:buChar char="•"/>
            </a:pPr>
            <a:r>
              <a:rPr lang="en-US" sz="2000" dirty="0" smtClean="0"/>
              <a:t>Generate downloadable nutrition reports in PDF format. </a:t>
            </a:r>
          </a:p>
          <a:p>
            <a:pPr>
              <a:buFont typeface="Arial" pitchFamily="34" charset="0"/>
              <a:buChar char="•"/>
            </a:pPr>
            <a:r>
              <a:rPr lang="en-US" sz="2000" dirty="0" smtClean="0"/>
              <a:t>Provide voice-based interaction using speech recognition. </a:t>
            </a:r>
          </a:p>
          <a:p>
            <a:pPr>
              <a:buFont typeface="Arial" pitchFamily="34" charset="0"/>
              <a:buChar char="•"/>
            </a:pPr>
            <a:r>
              <a:rPr lang="en-US" sz="2000" dirty="0" smtClean="0"/>
              <a:t>Add doctor and dietitian consultation support. </a:t>
            </a:r>
          </a:p>
          <a:p>
            <a:pPr>
              <a:buFont typeface="Arial" pitchFamily="34" charset="0"/>
              <a:buChar char="•"/>
            </a:pPr>
            <a:r>
              <a:rPr lang="en-US" sz="2000" dirty="0" smtClean="0"/>
              <a:t>Incorporate predictive health analytics using machine learning. </a:t>
            </a:r>
            <a:endParaRPr lang="en-US" sz="2000" dirty="0" smtClean="0"/>
          </a:p>
          <a:p>
            <a:endParaRPr lang="en-US" dirty="0" smtClean="0"/>
          </a:p>
          <a:p>
            <a:r>
              <a:rPr lang="en-US" sz="2000" dirty="0" smtClean="0"/>
              <a:t>These improvements will transform </a:t>
            </a:r>
            <a:r>
              <a:rPr lang="en-US" sz="2000" dirty="0" err="1" smtClean="0"/>
              <a:t>NutriBot</a:t>
            </a:r>
            <a:r>
              <a:rPr lang="en-US" sz="2000" dirty="0" smtClean="0"/>
              <a:t> into a comprehensive AI-powered digital healthcare ecosystem suitable for both individuals and healthcare professionals.</a:t>
            </a:r>
          </a:p>
          <a:p>
            <a:endParaRPr lang="en-US" sz="2000" dirty="0"/>
          </a:p>
        </p:txBody>
      </p:sp>
      <p:sp>
        <p:nvSpPr>
          <p:cNvPr id="174" name="Google Shape;174;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5" name="Google Shape;175;p42"/>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6" name="Google Shape;176;p42"/>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smtClean="0">
                <a:solidFill>
                  <a:srgbClr val="2B3541"/>
                </a:solidFill>
                <a:latin typeface="Times New Roman"/>
                <a:ea typeface="Times New Roman"/>
                <a:cs typeface="Times New Roman"/>
                <a:sym typeface="Times New Roman"/>
              </a:rPr>
              <a:t>	·</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2" name="Google Shape;182;p43"/>
          <p:cNvSpPr txBox="1"/>
          <p:nvPr/>
        </p:nvSpPr>
        <p:spPr>
          <a:xfrm>
            <a:off x="327949" y="207380"/>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4" name="Picture 3" descr="Screenshot 2026-07-13 201456.png"/>
          <p:cNvPicPr>
            <a:picLocks noChangeAspect="1"/>
          </p:cNvPicPr>
          <p:nvPr/>
        </p:nvPicPr>
        <p:blipFill>
          <a:blip r:embed="rId3"/>
          <a:stretch>
            <a:fillRect/>
          </a:stretch>
        </p:blipFill>
        <p:spPr>
          <a:xfrm>
            <a:off x="1238216" y="714356"/>
            <a:ext cx="8016935" cy="595935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9" name="Google Shape;189;p44"/>
          <p:cNvSpPr txBox="1"/>
          <p:nvPr/>
        </p:nvSpPr>
        <p:spPr>
          <a:xfrm>
            <a:off x="176696" y="226391"/>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r>
              <a:rPr lang="en-US" sz="2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1026" name="Picture 2"/>
          <p:cNvPicPr>
            <a:picLocks noChangeAspect="1" noChangeArrowheads="1"/>
          </p:cNvPicPr>
          <p:nvPr/>
        </p:nvPicPr>
        <p:blipFill>
          <a:blip r:embed="rId3"/>
          <a:srcRect/>
          <a:stretch>
            <a:fillRect/>
          </a:stretch>
        </p:blipFill>
        <p:spPr bwMode="auto">
          <a:xfrm>
            <a:off x="738150" y="857232"/>
            <a:ext cx="9429816" cy="5410219"/>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Google Shape;195;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80</TotalTime>
  <Words>981</Words>
  <PresentationFormat>Custom</PresentationFormat>
  <Paragraphs>149</Paragraphs>
  <Slides>16</Slides>
  <Notes>15</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IBM University Engagement Project Submission </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IBM University Engagement Project Submission</dc:title>
  <dc:creator>Manda Anirudh</dc:creator>
  <cp:lastModifiedBy>Radhey Shyam</cp:lastModifiedBy>
  <cp:revision>10</cp:revision>
  <dcterms:created xsi:type="dcterms:W3CDTF">2025-07-08T05:06:56Z</dcterms:created>
  <dcterms:modified xsi:type="dcterms:W3CDTF">2026-07-13T15:06:29Z</dcterms:modified>
</cp:coreProperties>
</file>